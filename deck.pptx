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3" Type="http://schemas.openxmlformats.org/officeDocument/2006/relationships/slide" Target="slides/slide12.xml" /><Relationship Id="rId14" Type="http://schemas.openxmlformats.org/officeDocument/2006/relationships/slide" Target="slides/slide13.xml" /><Relationship Id="rId15" Type="http://schemas.openxmlformats.org/officeDocument/2006/relationships/slide" Target="slides/slide14.xml" /><Relationship Id="rId16" Type="http://schemas.openxmlformats.org/officeDocument/2006/relationships/slide" Target="slides/slide15.xml" /><Relationship Id="rId17" Type="http://schemas.openxmlformats.org/officeDocument/2006/relationships/slide" Target="slides/slide16.xml" /><Relationship Id="rId18" Type="http://schemas.openxmlformats.org/officeDocument/2006/relationships/slide" Target="slides/slide17.xml" /><Relationship Id="rId19" Type="http://schemas.openxmlformats.org/officeDocument/2006/relationships/slide" Target="slides/slide18.xml" /><Relationship Id="rId20" Type="http://schemas.openxmlformats.org/officeDocument/2006/relationships/slide" Target="slides/slide19.xml" /><Relationship Id="rId21" Type="http://schemas.openxmlformats.org/officeDocument/2006/relationships/slide" Target="slides/slide20.xml" /><Relationship Id="rId22" Type="http://schemas.openxmlformats.org/officeDocument/2006/relationships/slide" Target="slides/slide21.xml" /><Relationship Id="rId23" Type="http://schemas.openxmlformats.org/officeDocument/2006/relationships/slide" Target="slides/slide22.xml" /><Relationship Id="rId24" Type="http://schemas.openxmlformats.org/officeDocument/2006/relationships/slide" Target="slides/slide23.xml" /><Relationship Id="rId25" Type="http://schemas.openxmlformats.org/officeDocument/2006/relationships/slide" Target="slides/slide24.xml" /><Relationship Id="rId26" Type="http://schemas.openxmlformats.org/officeDocument/2006/relationships/slide" Target="slides/slide25.xml" /><Relationship Id="rId27" Type="http://schemas.openxmlformats.org/officeDocument/2006/relationships/slide" Target="slides/slide26.xml" /><Relationship Id="rId28" Type="http://schemas.openxmlformats.org/officeDocument/2006/relationships/slide" Target="slides/slide27.xml" /><Relationship Id="rId29" Type="http://schemas.openxmlformats.org/officeDocument/2006/relationships/slide" Target="slides/slide28.xml" /><Relationship Id="rId30" Type="http://schemas.openxmlformats.org/officeDocument/2006/relationships/slide" Target="slides/slide29.xml" /><Relationship Id="rId32" Type="http://schemas.openxmlformats.org/officeDocument/2006/relationships/viewProps" Target="viewProps.xml" /><Relationship Id="rId31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34" Type="http://schemas.openxmlformats.org/officeDocument/2006/relationships/tableStyles" Target="tableStyles.xml" /><Relationship Id="rId33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9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/Relationships>
</file>

<file path=ppt/slides/_rels/slide2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5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2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Johnny’s AI Build Workflow — Methodology Deck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1270000">
              <a:buNone/>
            </a:pPr>
            <a:r>
              <a:rPr sz="2000" b="1"/>
              <a:t>Audience:</a:t>
            </a:r>
            <a:r>
              <a:rPr sz="2000"/>
              <a:t> Johnny (reference artifact) + senior technical / AI-engineering-lead interviewers </a:t>
            </a:r>
            <a:r>
              <a:rPr sz="2000" b="1"/>
              <a:t>Format:</a:t>
            </a:r>
            <a:r>
              <a:rPr sz="2000"/>
              <a:t> 18 slides — 5–10 minute walkthrough with a 60-second fallback </a:t>
            </a:r>
            <a:r>
              <a:rPr sz="2000" b="1"/>
              <a:t>Decision asked (interview frame):</a:t>
            </a:r>
            <a:r>
              <a:rPr sz="2000"/>
              <a:t> Trust this candidate to lead AI build engagements end-to-end — from stakeholder ambiguity to a tested, audited, shipped system </a:t>
            </a:r>
            <a:r>
              <a:rPr sz="2000" b="1"/>
              <a:t>Author:</a:t>
            </a:r>
            <a:r>
              <a:rPr sz="2000"/>
              <a:t> Johnny Chung — AI Engineering Lead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Contents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-342900" marL="342900">
              <a:buAutoNum type="arabicPeriod"/>
            </a:pPr>
            <a:r>
              <a:rPr/>
              <a:t>Johnny’s AI Build Workflow</a:t>
            </a:r>
          </a:p>
          <a:p>
            <a:pPr lvl="0" indent="-342900" marL="342900">
              <a:buAutoNum type="arabicPeriod"/>
            </a:pPr>
            <a:r>
              <a:rPr/>
              <a:t>I treat AI builds as a layered pipeline from vision to test suite, with bounded agent swarms doing the work and humans gating the loop</a:t>
            </a:r>
          </a:p>
          <a:p>
            <a:pPr lvl="0" indent="-342900" marL="342900">
              <a:buAutoNum type="arabicPeriod"/>
            </a:pPr>
            <a:r>
              <a:rPr/>
              <a:t>Three moves separate this from vibe-coding: vision-as-lens, tiered panels, and the gap loop as product</a:t>
            </a:r>
          </a:p>
          <a:p>
            <a:pPr lvl="0" indent="-342900" marL="342900">
              <a:buAutoNum type="arabicPeriod"/>
            </a:pPr>
            <a:r>
              <a:rPr/>
              <a:t>Vision precedes intake because panels without a lens give generic advice</a:t>
            </a:r>
          </a:p>
          <a:p>
            <a:pPr lvl="0" indent="-342900" marL="342900">
              <a:buAutoNum type="arabicPeriod"/>
            </a:pPr>
            <a:r>
              <a:rPr/>
              <a:t>The stakeholder PRD is the input contract, not the source of truth</a:t>
            </a:r>
          </a:p>
          <a:p>
            <a:pPr lvl="0" indent="-342900" marL="342900">
              <a:buAutoNum type="arabicPeriod"/>
            </a:pPr>
            <a:r>
              <a:rPr/>
              <a:t>Three 1st-order panels cover business, technical, and SME — 2nd-order is escalation, not default</a:t>
            </a:r>
          </a:p>
          <a:p>
            <a:pPr lvl="0" indent="-342900" marL="342900">
              <a:buAutoNum type="arabicPeriod"/>
            </a:pPr>
            <a:r>
              <a:rPr/>
              <a:t>Academic and recent research live as a cite-on-demand tool, not a front-loaded artifact</a:t>
            </a:r>
          </a:p>
          <a:p>
            <a:pPr lvl="0" indent="-342900" marL="342900">
              <a:buAutoNum type="arabicPeriod"/>
            </a:pPr>
            <a:r>
              <a:rPr/>
              <a:t>The expanded spec is derived from the PRD with a maintained diff, never duplicated</a:t>
            </a:r>
          </a:p>
          <a:p>
            <a:pPr lvl="0" indent="-342900" marL="342900">
              <a:buAutoNum type="arabicPeriod"/>
            </a:pPr>
            <a:r>
              <a:rPr/>
              <a:t>Every user-journey node declares its data-in, processing, and data-out to make state legible</a:t>
            </a:r>
          </a:p>
          <a:p>
            <a:pPr lvl="0" indent="-342900" marL="342900">
              <a:buAutoNum type="arabicPeriod"/>
            </a:pPr>
            <a:r>
              <a:rPr/>
              <a:t>The build is run by orchestrator + supervisor + ≤4 implementors + watchdog + tester — fan-out is capped to keep review honest</a:t>
            </a:r>
          </a:p>
          <a:p>
            <a:pPr lvl="0" indent="-342900" marL="342900">
              <a:buAutoNum type="arabicPeriod"/>
            </a:pPr>
            <a:r>
              <a:rPr/>
              <a:t>Implementors build in parallel while the watchdog audits against spec as a CI hook with teeth</a:t>
            </a:r>
          </a:p>
          <a:p>
            <a:pPr lvl="0" indent="-342900" marL="342900">
              <a:buAutoNum type="arabicPeriod"/>
            </a:pPr>
            <a:r>
              <a:rPr/>
              <a:t>Agents walk the app first; the human is the final gap filter, not the first</a:t>
            </a:r>
          </a:p>
          <a:p>
            <a:pPr lvl="0" indent="-342900" marL="342900">
              <a:buAutoNum type="arabicPeriod"/>
            </a:pPr>
            <a:r>
              <a:rPr/>
              <a:t>Gaps feed back into the PRD — the loop is the product, the build is the artifact</a:t>
            </a:r>
          </a:p>
          <a:p>
            <a:pPr lvl="0" indent="-342900" marL="342900">
              <a:buAutoNum type="arabicPeriod"/>
            </a:pPr>
            <a:r>
              <a:rPr/>
              <a:t>The test suite is generated from the user workflow map, not written separately</a:t>
            </a:r>
          </a:p>
          <a:p>
            <a:pPr lvl="0" indent="-342900" marL="342900">
              <a:buAutoNum type="arabicPeriod"/>
            </a:pPr>
            <a:r>
              <a:rPr/>
              <a:t>The full pipeline is for production; the fast track collapses to one panel and one implementor for weekly gauntlets</a:t>
            </a:r>
          </a:p>
          <a:p>
            <a:pPr lvl="0" indent="-342900" marL="342900">
              <a:buAutoNum type="arabicPeriod"/>
            </a:pPr>
            <a:r>
              <a:rPr/>
              <a:t>Three weaknesses I’d flag before anyone else does</a:t>
            </a:r>
          </a:p>
          <a:p>
            <a:pPr lvl="0" indent="-342900" marL="342900">
              <a:buAutoNum type="arabicPeriod"/>
            </a:pPr>
            <a:r>
              <a:rPr/>
              <a:t>Every phase has an existing skill behind it — the workflow is deployed, not aspirational</a:t>
            </a:r>
          </a:p>
          <a:p>
            <a:pPr lvl="0" indent="-342900" marL="342900">
              <a:buAutoNum type="arabicPeriod"/>
            </a:pPr>
            <a:r>
              <a:rPr/>
              <a:t>Sixty seconds: vision → panels → derived spec → bounded swarm → gap loop — tiered, with the loop as the product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1. Johnny’s AI Build Workflow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A repeatable methodology for turning stakeholder ambiguity into a tested, audited AI system.</a:t>
            </a:r>
          </a:p>
          <a:p>
            <a:pPr lvl="0"/>
            <a:r>
              <a:rPr/>
              <a:t>Built over ~50 projects across AI agents, trading, climate, and education</a:t>
            </a:r>
          </a:p>
          <a:p>
            <a:pPr lvl="0"/>
            <a:r>
              <a:rPr/>
              <a:t>Operationalized as Claude Code skills — every phase has a tool behind it</a:t>
            </a:r>
          </a:p>
          <a:p>
            <a:pPr lvl="0"/>
            <a:r>
              <a:rPr/>
              <a:t>Designed for two cadences: production builds (full pipeline) and weekly gauntlets (fast track)</a:t>
            </a:r>
          </a:p>
          <a:p>
            <a:pPr lvl="0" indent="0" marL="0">
              <a:buNone/>
            </a:pPr>
            <a:r>
              <a:rPr i="1"/>
              <a:t>This is a reference deck for myself. It’s also the answer to “walk me through how you build.”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2. I treat AI builds as a layered pipeline from vision to test suite, with bounded agent swarms doing the work and humans gating the loop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Anchor — the system on one page:</a:t>
            </a:r>
          </a:p>
          <a:p>
            <a:pPr lvl="0" indent="0">
              <a:buNone/>
            </a:pPr>
            <a:r>
              <a:rPr>
                <a:latin typeface="Courier"/>
              </a:rPr>
              <a:t>                              [ VISION ]                      ◄── lens for everything below
                                  │
                                  ▼
            [ Stakeholder ] ──► [ PRD ] ──► [ Panels ] ──► [ Expanded Spec ]
                                                                  │
                                          ┌───────────────────────┴───────────────────────┐
                                          ▼                                               ▼
                              [ User Workflow Map ]                          [ Design Spec + Topology ]
                                                                                          │
                                                                ┌─────────────────────────┼─────────────────────────┐
                                                                ▼                         ▼                         ▼
                                                       [ Orchestrator ]         [ ≤4 Implementors ]            [ Watchdog ]
                                                                                          │
                                                                                          ▼
                                                                                     [ Built App ]
                                                                                          │
                                                                ┌─────────────────────────┴─────────────────────────┐
                                                                ▼                                                   ▼
                                                       [ Agent Walkthrough ]                              [ Human Walkthrough ]
                                                                                          │
                                                                                          ▼
                                                                                      [ GAP LOOP ] ─────► back to PRD</a:t>
            </a:r>
          </a:p>
          <a:p>
            <a:pPr lvl="0" indent="0" marL="0">
              <a:buNone/>
            </a:pPr>
            <a:r>
              <a:rPr i="1"/>
              <a:t>Every later slide is a zoom into one region of this anchor.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3. Three moves separate this from vibe-coding: vision-as-lens, tiered panels, and the gap loop as product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-342900" marL="342900">
              <a:buAutoNum type="arabicPeriod"/>
            </a:pPr>
            <a:r>
              <a:rPr b="1"/>
              <a:t>Vision-as-lens, not artifact</a:t>
            </a:r>
            <a:r>
              <a:rPr/>
              <a:t> — pillars and project objective sit </a:t>
            </a:r>
            <a:r>
              <a:rPr i="1"/>
              <a:t>above</a:t>
            </a:r>
            <a:r>
              <a:rPr/>
              <a:t> the PRD so panels review through them instead of generating generic advice</a:t>
            </a:r>
          </a:p>
          <a:p>
            <a:pPr lvl="0" indent="-342900" marL="342900">
              <a:buAutoNum type="arabicPeriod"/>
            </a:pPr>
            <a:r>
              <a:rPr b="1"/>
              <a:t>Tiered panels</a:t>
            </a:r>
            <a:r>
              <a:rPr/>
              <a:t> — 1st-order business / technical / SME by default; 2nd-order panels exist but only escalate when stakes warrant. Most workflows max out panels and drown in synthesis</a:t>
            </a:r>
          </a:p>
          <a:p>
            <a:pPr lvl="0" indent="-342900" marL="342900">
              <a:buAutoNum type="arabicPeriod"/>
            </a:pPr>
            <a:r>
              <a:rPr b="1"/>
              <a:t>The gap loop is the product</a:t>
            </a:r>
            <a:r>
              <a:rPr/>
              <a:t> — human + agent walkthroughs generate gaps that re-derive the spec. The build is the artifact; the loop is what gets better</a:t>
            </a:r>
          </a:p>
          <a:p>
            <a:pPr lvl="0" indent="0" marL="0">
              <a:buNone/>
            </a:pPr>
            <a:r>
              <a:rPr i="1"/>
              <a:t>Sub-moves: expanded spec is derived (diffed) not duplicated; agent fan-out is bounded at 4; watchdog is CI-with-teeth, not advisory.</a:t>
            </a:r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4. Vision precedes intake because panels without a lens give generic advice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Phase 0 — Vision as Lens</a:t>
            </a:r>
          </a:p>
          <a:p>
            <a:pPr lvl="0" indent="0">
              <a:buNone/>
            </a:pPr>
            <a:r>
              <a:rPr>
                <a:latin typeface="Courier"/>
              </a:rPr>
              <a:t>┌──────────────────────────────────────────────────────────────┐
│                      COMPANY-LEVEL VISION                    │
│   (e.g., SuperBuilders 4 pillars: mission, rigor, build      │
│    quality, integration-readiness)                           │
├──────────────────────────────────────────────────────────────┤
│                      PROJECT-LEVEL VISION                    │
│   (the objective: what this specific build must accomplish,  │
│    and which pillar(s) it serves)                            │
├──────────────────────────────────────────────────────────────┤
│                           PRD INTAKE                         │
└──────────────────────────────────────────────────────────────┘</a:t>
            </a:r>
          </a:p>
          <a:p>
            <a:pPr lvl="0"/>
            <a:r>
              <a:rPr/>
              <a:t>Vision is a </a:t>
            </a:r>
            <a:r>
              <a:rPr i="1"/>
              <a:t>short</a:t>
            </a:r>
            <a:r>
              <a:rPr/>
              <a:t> document — 1 page max for company, 1 paragraph for project</a:t>
            </a:r>
          </a:p>
          <a:p>
            <a:pPr lvl="0"/>
            <a:r>
              <a:rPr/>
              <a:t>It is referenced </a:t>
            </a:r>
            <a:r>
              <a:rPr i="1"/>
              <a:t>by name</a:t>
            </a:r>
            <a:r>
              <a:rPr/>
              <a:t> in every panel prompt and every spec section</a:t>
            </a:r>
          </a:p>
          <a:p>
            <a:pPr lvl="0"/>
            <a:r>
              <a:rPr/>
              <a:t>A PRD that violates a pillar is sent back before panels even run</a:t>
            </a:r>
          </a:p>
          <a:p>
            <a:pPr lvl="0" indent="0" marL="0">
              <a:buNone/>
            </a:pPr>
            <a:r>
              <a:rPr i="1"/>
              <a:t>Why this matters: panels prompted without a lens produce generic best-practice advice. Panels prompted through pillars produce advice you can actually use.</a:t>
            </a:r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5. The stakeholder PRD is the input contract, not the source of truth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Phase 1 — Intake</a:t>
            </a:r>
          </a:p>
          <a:p>
            <a:pPr lvl="0"/>
            <a:r>
              <a:rPr/>
              <a:t>PRD comes from stakeholder (founder, partner, course staff, customer)</a:t>
            </a:r>
          </a:p>
          <a:p>
            <a:pPr lvl="0"/>
            <a:r>
              <a:rPr/>
              <a:t>I do </a:t>
            </a:r>
            <a:r>
              <a:rPr b="1"/>
              <a:t>not</a:t>
            </a:r>
            <a:r>
              <a:rPr/>
              <a:t> edit the PRD — it stays immutable as the input contract</a:t>
            </a:r>
          </a:p>
          <a:p>
            <a:pPr lvl="0"/>
            <a:r>
              <a:rPr/>
              <a:t>The expanded spec (Phase 4) becomes the working source of truth, with a maintained diff back to the PRD</a:t>
            </a:r>
          </a:p>
          <a:p>
            <a:pPr lvl="0" indent="0" marL="0">
              <a:buNone/>
            </a:pPr>
            <a:r>
              <a:rPr b="1"/>
              <a:t>Why immutable:</a:t>
            </a:r>
            <a:r>
              <a:rPr/>
              <a:t> - The diff is the audit trail of decisions - Stakeholders can re-read their own doc and trust nothing changed under them - Re-runs of the pipeline always start from the same input</a:t>
            </a:r>
          </a:p>
          <a:p>
            <a:pPr lvl="0" indent="0" marL="0">
              <a:buNone/>
            </a:pPr>
            <a:r>
              <a:rPr i="1"/>
              <a:t>Treating the PRD as immutable input is a small move that prevents large amounts of drift downstream.</a:t>
            </a:r>
          </a:p>
        </p:txBody>
      </p:sp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/>
          <a:lstStyle/>
          <a:p>
            <a:pPr lvl="0" indent="0" marL="0">
              <a:buNone/>
            </a:pPr>
            <a:r>
              <a:rPr/>
              <a:t>6. Three 1st-order panels cover business, technical, and SME — 2nd-order is escalation, not default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Phase 2 — Panels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3568700" y="203200"/>
          <a:ext cx="5105400" cy="4381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01800"/>
                <a:gridCol w="1701800"/>
                <a:gridCol w="17018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Panel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Role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Skill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Business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Market, GTM, pricing, unit economics, regulatory exposure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>
                          <a:latin typeface="Courier"/>
                        </a:rPr>
                        <a:t>business-expert-panel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Technical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Architecture, testability, perf, security, DevEx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>
                          <a:latin typeface="Courier"/>
                        </a:rPr>
                        <a:t>technical-expert-panel</a:t>
                      </a:r>
                      <a:r>
                        <a:rPr/>
                        <a:t>, </a:t>
                      </a:r>
                      <a:r>
                        <a:rPr>
                          <a:latin typeface="Courier"/>
                        </a:rPr>
                        <a:t>asl-technical-panel</a:t>
                      </a:r>
                      <a:r>
                        <a:rPr/>
                        <a:t>, </a:t>
                      </a:r>
                      <a:r>
                        <a:rPr>
                          <a:latin typeface="Courier"/>
                        </a:rPr>
                        <a:t>security-expert-panel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SME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Domain experts speaking in voice (ASL linguists, Deaf engineers, teachers, kids)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>
                          <a:latin typeface="Courier"/>
                        </a:rPr>
                        <a:t>asl-expert-panel</a:t>
                      </a:r>
                      <a:r>
                        <a:rPr/>
                        <a:t>, </a:t>
                      </a:r>
                      <a:r>
                        <a:rPr>
                          <a:latin typeface="Courier"/>
                        </a:rPr>
                        <a:t>user-panel</a:t>
                      </a:r>
                      <a:r>
                        <a:rPr/>
                        <a:t>, </a:t>
                      </a:r>
                      <a:r>
                        <a:rPr>
                          <a:latin typeface="Courier"/>
                        </a:rPr>
                        <a:t>superbuilders-patrick-panel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Escalation rule (when to add 2nd-order panels):</a:t>
            </a:r>
            <a:r>
              <a:rPr/>
              <a:t> - 1st-order panel disagrees internally on a load-bearing decision - Decision is irreversible (architecture lock-in, public commitment, contract) - Stakes cross a defined threshold (compliance, safety, reputation)</a:t>
            </a:r>
          </a:p>
          <a:p>
            <a:pPr lvl="0" indent="0" marL="0">
              <a:buNone/>
            </a:pPr>
            <a:r>
              <a:rPr i="1"/>
              <a:t>Default is 3 panels. Adding 2nd-order doubles cost for marginal gain on most builds.</a:t>
            </a:r>
          </a:p>
        </p:txBody>
      </p:sp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7. Academic and recent research live as a cite-on-demand tool, not a front-loaded artifact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Phase 3 — Grounding</a:t>
            </a:r>
          </a:p>
          <a:p>
            <a:pPr lvl="0"/>
            <a:r>
              <a:rPr/>
              <a:t>Knowledge base is </a:t>
            </a:r>
            <a:r>
              <a:rPr b="1"/>
              <a:t>a tool the panels and spec writers reach for</a:t>
            </a:r>
            <a:r>
              <a:rPr/>
              <a:t>, not a phase artifact</a:t>
            </a:r>
          </a:p>
          <a:p>
            <a:pPr lvl="0"/>
            <a:r>
              <a:rPr/>
              <a:t>Citations land </a:t>
            </a:r>
            <a:r>
              <a:rPr i="1"/>
              <a:t>in the spec</a:t>
            </a:r>
            <a:r>
              <a:rPr/>
              <a:t> where they support a decision, not in a separate “research doc”</a:t>
            </a:r>
          </a:p>
          <a:p>
            <a:pPr lvl="0"/>
            <a:r>
              <a:rPr/>
              <a:t>Recent research (last 12 months) gets a higher weight than canonical references for AI/agent work</a:t>
            </a:r>
          </a:p>
          <a:p>
            <a:pPr lvl="0" indent="0" marL="0">
              <a:buNone/>
            </a:pPr>
            <a:r>
              <a:rPr b="1"/>
              <a:t>What goes in:</a:t>
            </a:r>
            <a:r>
              <a:rPr/>
              <a:t> - Methodology papers relevant to the specific build (e.g., DI for instruction design, agent-eval benchmarks for swarm work) - Recent ablations / failure-mode studies - Domain papers when an SME panel cites them</a:t>
            </a:r>
          </a:p>
          <a:p>
            <a:pPr lvl="0" indent="0" marL="0">
              <a:buNone/>
            </a:pPr>
            <a:r>
              <a:rPr i="1"/>
              <a:t>Front-loaded knowledge bases get read once and ignored. Cite-on-demand knowledge is referenced in every spec it touches.</a:t>
            </a:r>
          </a:p>
        </p:txBody>
      </p:sp>
    </p:spTree>
  </p:cSld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8. The expanded spec is derived from the PRD with a maintained diff, never duplicated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Phase 4 — Expanded Spec</a:t>
            </a:r>
          </a:p>
          <a:p>
            <a:pPr lvl="0" indent="0">
              <a:buNone/>
            </a:pPr>
            <a:r>
              <a:rPr>
                <a:latin typeface="Courier"/>
              </a:rPr>
              <a:t>   [ PRD ] ─────────► [ Expanded Spec ]
       │                     │
       │   ◄── diff ──►     │   (auto-tracked: which sections expand which PRD requirements,
       │                     │    which are new derivations, which are open questions)
       ▼                     ▼
   immutable             evolves</a:t>
            </a:r>
          </a:p>
          <a:p>
            <a:pPr lvl="0"/>
            <a:r>
              <a:rPr/>
              <a:t>One document. Not two parallel docs that drift</a:t>
            </a:r>
          </a:p>
          <a:p>
            <a:pPr lvl="0"/>
            <a:r>
              <a:rPr/>
              <a:t>Diff sections are tagged: </a:t>
            </a:r>
            <a:r>
              <a:rPr>
                <a:latin typeface="Courier"/>
              </a:rPr>
              <a:t>[FROM PRD §2.1]</a:t>
            </a:r>
            <a:r>
              <a:rPr/>
              <a:t>, </a:t>
            </a:r>
            <a:r>
              <a:rPr>
                <a:latin typeface="Courier"/>
              </a:rPr>
              <a:t>[DERIVED]</a:t>
            </a:r>
            <a:r>
              <a:rPr/>
              <a:t>, </a:t>
            </a:r>
            <a:r>
              <a:rPr>
                <a:latin typeface="Courier"/>
              </a:rPr>
              <a:t>[OPEN — needs decision]</a:t>
            </a:r>
          </a:p>
          <a:p>
            <a:pPr lvl="0"/>
            <a:r>
              <a:rPr/>
              <a:t>Every PRD requirement maps to a spec section or an explicit out-of-scope tag</a:t>
            </a:r>
          </a:p>
          <a:p>
            <a:pPr lvl="0"/>
            <a:r>
              <a:rPr/>
              <a:t>The diff becomes the change log when the gap loop fires</a:t>
            </a:r>
          </a:p>
          <a:p>
            <a:pPr lvl="0" indent="0" marL="0">
              <a:buNone/>
            </a:pPr>
            <a:r>
              <a:rPr i="1"/>
              <a:t>Two docs drift within a week. The diff is the value.</a:t>
            </a:r>
          </a:p>
        </p:txBody>
      </p:sp>
    </p:spTree>
  </p:cSld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9. Every user-journey node declares its data-in, processing, and data-out to make state legible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Phase 5 — User Workflow Map</a:t>
            </a:r>
          </a:p>
          <a:p>
            <a:pPr lvl="0" indent="0">
              <a:buNone/>
            </a:pPr>
            <a:r>
              <a:rPr>
                <a:latin typeface="Courier"/>
              </a:rPr>
              <a:t>┌─────────────────┐        ┌─────────────────┐        ┌─────────────────┐
│   Node A        │        │   Node B        │        │   Node C        │
│ ─────────────── │   ──►  │ ─────────────── │   ──►  │ ─────────────── │
│ in:  &lt;data&gt;     │        │ in:  &lt;data&gt;     │        │ in:  &lt;data&gt;     │
│ proc: &lt;thinking&gt;│        │ proc: &lt;thinking&gt;│        │ proc: &lt;thinking&gt;│
│ out: &lt;data&gt;     │        │ out: &lt;data&gt;     │        │ out: &lt;data&gt;     │
└─────────────────┘        └─────────────────┘        └─────────────────┘</a:t>
            </a:r>
          </a:p>
          <a:p>
            <a:pPr lvl="0"/>
            <a:r>
              <a:rPr/>
              <a:t>Every state transition is visible</a:t>
            </a:r>
          </a:p>
          <a:p>
            <a:pPr lvl="0"/>
            <a:r>
              <a:rPr/>
              <a:t>“Processing” includes the </a:t>
            </a:r>
            <a:r>
              <a:rPr i="1"/>
              <a:t>thinking</a:t>
            </a:r>
            <a:r>
              <a:rPr/>
              <a:t> — what the user is reasoning about, not just what the system does</a:t>
            </a:r>
          </a:p>
          <a:p>
            <a:pPr lvl="0"/>
            <a:r>
              <a:rPr/>
              <a:t>Branches and failure paths are nodes, not annotations</a:t>
            </a:r>
          </a:p>
          <a:p>
            <a:pPr lvl="0"/>
            <a:r>
              <a:rPr/>
              <a:t>This becomes the source for the test suite (Phase 10)</a:t>
            </a:r>
          </a:p>
          <a:p>
            <a:pPr lvl="0" indent="0" marL="0">
              <a:buNone/>
            </a:pPr>
            <a:r>
              <a:rPr i="1"/>
              <a:t>State that isn’t drawn is state that breaks in production.</a:t>
            </a:r>
          </a:p>
        </p:txBody>
      </p:sp>
    </p:spTree>
  </p:cSld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10. The build is run by orchestrator + supervisor + ≤4 implementors + watchdog + tester — fan-out is capped to keep review honest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Phase 6 — Design Spec + Agent Topology</a:t>
            </a:r>
          </a:p>
          <a:p>
            <a:pPr lvl="0" indent="0">
              <a:buNone/>
            </a:pPr>
            <a:r>
              <a:rPr>
                <a:latin typeface="Courier"/>
              </a:rPr>
              <a:t>                            ┌──────────────────┐
                            │   ORCHESTRATOR   │  decomposes spec into 2–4 work units
                            └────────┬─────────┘
                                     │
                            ┌────────▼─────────┐
                            │    SUPERVISOR    │  spec-of-record, arbitration
                            └────────┬─────────┘
              ┌──────────────┬───────┴───────┬──────────────┐
              ▼              ▼               ▼              ▼
         ┌────────┐     ┌────────┐      ┌────────┐     ┌────────┐
         │ Impl 1 │     │ Impl 2 │      │ Impl 3 │     │ Impl 4 │   (max 4 — no more)
         └────┬───┘     └────┬───┘      └────┬───┘     └────┬───┘
              └──────────────┴───────┬───────┴──────────────┘
                                     ▼
                            ┌──────────────────┐
                            │     WATCHDOG     │  CI hook — blocks merge on spec violation
                            └────────┬─────────┘
                                     ▼
                            ┌──────────────────┐
                            │      TESTER      │  runs suite derived from workflow map
                            └──────────────────┘</a:t>
            </a:r>
          </a:p>
          <a:p>
            <a:pPr lvl="0" indent="0" marL="0">
              <a:buNone/>
            </a:pPr>
            <a:r>
              <a:rPr b="1"/>
              <a:t>Why fan-out is capped at 4:</a:t>
            </a:r>
            <a:r>
              <a:rPr/>
              <a:t> - The supervisor has to arbitrate every conflict — beyond 4, arbitration becomes noise - The reviewer can’t actually review 8 parallel diffs in any one cycle - Claude Code subagent context budget is finite</a:t>
            </a:r>
          </a:p>
          <a:p>
            <a:pPr lvl="0" indent="0" marL="0">
              <a:buNone/>
            </a:pPr>
            <a:r>
              <a:rPr i="1"/>
              <a:t>If you need more parallelism, sequence two rounds of 4. Don’t fan out 8.</a:t>
            </a:r>
          </a:p>
        </p:txBody>
      </p:sp>
    </p:spTree>
  </p:cSld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11. Implementors build in parallel while the watchdog audits against spec as a CI hook with teeth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Phase 7 — Build + Continuous Audit</a:t>
            </a:r>
          </a:p>
          <a:p>
            <a:pPr lvl="0"/>
            <a:r>
              <a:rPr/>
              <a:t>Implementors run in parallel under the supervisor’s arbitration</a:t>
            </a:r>
          </a:p>
          <a:p>
            <a:pPr lvl="0"/>
            <a:r>
              <a:rPr/>
              <a:t>Watchdog runs </a:t>
            </a:r>
            <a:r>
              <a:rPr b="1"/>
              <a:t>as a CI / pre-merge hook</a:t>
            </a:r>
            <a:r>
              <a:rPr/>
              <a:t> — not an advisory comment</a:t>
            </a:r>
          </a:p>
          <a:p>
            <a:pPr lvl="0"/>
            <a:r>
              <a:rPr/>
              <a:t>A spec violation blocks merge until either (a) the implementation conforms or (b) the spec is updated through the proper channel (Phase 9)</a:t>
            </a:r>
          </a:p>
          <a:p>
            <a:pPr lvl="0" indent="0" marL="0">
              <a:buNone/>
            </a:pPr>
            <a:r>
              <a:rPr b="1"/>
              <a:t>What the watchdog checks:</a:t>
            </a:r>
            <a:r>
              <a:rPr/>
              <a:t> - Spec coverage — every spec section has implementing code - Spec violation — no code contradicts a spec decision - Naming / interface contracts honored - Test coverage hits the bar set in the spec</a:t>
            </a:r>
          </a:p>
          <a:p>
            <a:pPr lvl="0" indent="0" marL="0">
              <a:buNone/>
            </a:pPr>
            <a:r>
              <a:rPr i="1"/>
              <a:t>An advisory watchdog gets ignored. A blocking watchdog forces the conversation back to the spec, which is where it belongs.</a:t>
            </a:r>
          </a:p>
        </p:txBody>
      </p:sp>
    </p:spTree>
  </p:cSld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12. Agents walk the app first; the human is the final gap filter, not the first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Phase 8 — Automated + Human Walkthrough</a:t>
            </a:r>
          </a:p>
          <a:p>
            <a:pPr lvl="0" indent="0">
              <a:buNone/>
            </a:pPr>
            <a:r>
              <a:rPr>
                <a:latin typeface="Courier"/>
              </a:rPr>
              <a:t>   [ Built App ]
        │
        ▼
   [ Agent Walkthrough ]            ◄── usability-testing skill: Playwright + Claude
        │                              runs the scenarios derived from the user workflow map
        ▼
   [ Auto-flagged gaps ]
        │
        ▼
   [ Human Walkthrough ]            ◄── Johnny, with a list of what the agent already found
        │
        ▼
   [ Human-only gaps ]              ◄── felt-sense, aesthetic, edge cases agents miss
        │
        ▼
   [ Gap list ]                     ◄── feeds the gap loop (Phase 9)</a:t>
            </a:r>
          </a:p>
          <a:p>
            <a:pPr lvl="0" indent="0" marL="0">
              <a:buNone/>
            </a:pPr>
            <a:r>
              <a:rPr b="1"/>
              <a:t>Why agent-first:</a:t>
            </a:r>
            <a:r>
              <a:rPr/>
              <a:t> - Agents are faster and don’t get bored - They exercise the golden path + named edge cases mechanically - The human becomes the felt-sense filter — does this </a:t>
            </a:r>
            <a:r>
              <a:rPr i="1"/>
              <a:t>feel</a:t>
            </a:r>
            <a:r>
              <a:rPr/>
              <a:t> right? — not the regression hunter</a:t>
            </a:r>
          </a:p>
          <a:p>
            <a:pPr lvl="0" indent="0" marL="0">
              <a:buNone/>
            </a:pPr>
            <a:r>
              <a:rPr i="1"/>
              <a:t>Human time spent on regressions is human time wasted.</a:t>
            </a:r>
          </a:p>
        </p:txBody>
      </p:sp>
    </p:spTree>
  </p:cSld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13. Gaps feed back into the PRD — the loop is the product, the build is the artifact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Phase 9 — Gap Loop</a:t>
            </a:r>
          </a:p>
          <a:p>
            <a:pPr lvl="0" indent="0">
              <a:buNone/>
            </a:pPr>
            <a:r>
              <a:rPr>
                <a:latin typeface="Courier"/>
              </a:rPr>
              <a:t>   ┌──────────────────────────────────────────────────────────────────┐
   │                                                                  │
   ▼                                                                  │
[ PRD ] ──► [ Expanded Spec ] ──► [ Build ] ──► [ Walkthrough ] ──► [ GAPS ]
                                                                      │
                                                  (gap classification)
                                                                      │
                                  ┌───────────────────────────────────┤
                                  │                                   │
                                  ▼                                   ▼
                          [ Spec-level gap ]                  [ PRD-level gap ]
                          (re-derive spec)                    (back to stakeholder)</a:t>
            </a:r>
          </a:p>
          <a:p>
            <a:pPr lvl="0"/>
            <a:r>
              <a:rPr/>
              <a:t>Every gap is classified: is this a spec issue (we missed something in derivation) or a PRD issue (the stakeholder needs to make a call)?</a:t>
            </a:r>
          </a:p>
          <a:p>
            <a:pPr lvl="0"/>
            <a:r>
              <a:rPr/>
              <a:t>PRD-level gaps go back to the stakeholder as an explicit ask, not a silent assumption</a:t>
            </a:r>
          </a:p>
          <a:p>
            <a:pPr lvl="0"/>
            <a:r>
              <a:rPr/>
              <a:t>Spec-level gaps re-trigger phases 4–7 with the diff log intact</a:t>
            </a:r>
          </a:p>
          <a:p>
            <a:pPr lvl="0" indent="0" marL="0">
              <a:buNone/>
            </a:pPr>
            <a:r>
              <a:rPr i="1"/>
              <a:t>The loop is what makes the methodology — each pass produces a better-fitting product, and the loop itself gets faster.</a:t>
            </a:r>
          </a:p>
        </p:txBody>
      </p:sp>
    </p:spTree>
  </p:cSld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14. The test suite is generated from the user workflow map, not written separately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Phase 10 — Test Suite</a:t>
            </a:r>
          </a:p>
          <a:p>
            <a:pPr lvl="0"/>
            <a:r>
              <a:rPr/>
              <a:t>Each node in the workflow map (Phase 5) becomes one or more test cases</a:t>
            </a:r>
          </a:p>
          <a:p>
            <a:pPr lvl="0"/>
            <a:r>
              <a:rPr/>
              <a:t>Inputs / processing assertions / outputs translate directly to arrange / act / assert</a:t>
            </a:r>
          </a:p>
          <a:p>
            <a:pPr lvl="0"/>
            <a:r>
              <a:rPr/>
              <a:t>Branches and failure paths in the map become the negative test cases</a:t>
            </a:r>
          </a:p>
          <a:p>
            <a:pPr lvl="0"/>
            <a:r>
              <a:rPr/>
              <a:t>Test coverage </a:t>
            </a:r>
            <a:r>
              <a:rPr i="1"/>
              <a:t>by node</a:t>
            </a:r>
            <a:r>
              <a:rPr/>
              <a:t> is reportable — gaps in coverage map back to gaps in the workflow itself</a:t>
            </a:r>
          </a:p>
          <a:p>
            <a:pPr lvl="0" indent="0" marL="0">
              <a:buNone/>
            </a:pPr>
            <a:r>
              <a:rPr b="1"/>
              <a:t>Two consequences:</a:t>
            </a:r>
            <a:r>
              <a:rPr/>
              <a:t> - Writing the workflow map </a:t>
            </a:r>
            <a:r>
              <a:rPr i="1"/>
              <a:t>is</a:t>
            </a:r>
            <a:r>
              <a:rPr/>
              <a:t> writing the test plan - A node missing from the map is a test you weren’t going to write — and a bug you won’t catch</a:t>
            </a:r>
          </a:p>
          <a:p>
            <a:pPr lvl="0" indent="0" marL="0">
              <a:buNone/>
            </a:pPr>
            <a:r>
              <a:rPr i="1"/>
              <a:t>Tests written separately from the workflow drift from the workflow. Tests generated from the workflow can’t.</a:t>
            </a:r>
          </a:p>
        </p:txBody>
      </p:sp>
    </p:spTree>
  </p:cSld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/>
          <a:lstStyle/>
          <a:p>
            <a:pPr lvl="0" indent="0" marL="0">
              <a:buNone/>
            </a:pPr>
            <a:r>
              <a:rPr/>
              <a:t>15. The full pipeline is for production; the fast track collapses to one panel and one implementor for weekly gauntlets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Tiered workflow — judgment about when </a:t>
            </a:r>
            <a:r>
              <a:rPr b="1" i="1"/>
              <a:t>not</a:t>
            </a:r>
            <a:r>
              <a:rPr b="1"/>
              <a:t> to use the methodology: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3568700" y="203200"/>
          <a:ext cx="5105400" cy="4381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01800"/>
                <a:gridCol w="1701800"/>
                <a:gridCol w="17018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Phase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Full track (production)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Fast track (1-week gauntlet)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Vision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Company pillars + project objective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Project objective only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PRD intake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Immutable + diff’d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Same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Panels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3 panels (B / T / SME), escalate to 2nd-order on conflict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 panel — pick the one most relevant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Knowledge base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Cite-on-demand from full library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Skip unless a panel explicitly cites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Expanded spec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Full derivation w/ diff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Lightweight — bullet-level spec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Workflow map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Full state machine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Golden path only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Agent topology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Orchestrator + supervisor + ≤4 impl + watchdog + tester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Single implementor + watchdog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Walkthrough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Agent + human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Human only (no time to build the agent runner)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Gap loop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Full re-derivation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Inline fixes — no re-derivation cycle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Test suite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Generated from workflow map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Smoke tests only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i="1"/>
              <a:t>The fast track is not a degraded full track — it’s a different workflow that admits its constraints up front.</a:t>
            </a:r>
          </a:p>
        </p:txBody>
      </p:sp>
    </p:spTree>
  </p:cSld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16. Three weaknesses I’d flag before anyone else does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-342900" marL="342900">
              <a:buAutoNum type="arabicPeriod"/>
            </a:pPr>
            <a:r>
              <a:rPr b="1"/>
              <a:t>The academic-KB layer hasn’t proven it pays for itself.</a:t>
            </a:r>
            <a:r>
              <a:rPr/>
              <a:t> I can’t show a build where a cited paper changed an architectural decision in a way that mattered. Until I can, the layer is on probation.</a:t>
            </a:r>
          </a:p>
          <a:p>
            <a:pPr lvl="0" indent="-342900" marL="342900">
              <a:buAutoNum type="arabicPeriod"/>
            </a:pPr>
            <a:r>
              <a:rPr b="1"/>
              <a:t>Supervisor arbitration logic is not load-tested.</a:t>
            </a:r>
            <a:r>
              <a:rPr/>
              <a:t> Fan-out of 4 is a guess, not a measurement. I haven’t run the supervisor against 4 implementors producing conflicting diffs at scale. It might fail open or fail loud — I don’t yet know which.</a:t>
            </a:r>
          </a:p>
          <a:p>
            <a:pPr lvl="0" indent="-342900" marL="342900">
              <a:buAutoNum type="arabicPeriod"/>
            </a:pPr>
            <a:r>
              <a:rPr b="1"/>
              <a:t>Human walkthrough is still the slowest link.</a:t>
            </a:r>
            <a:r>
              <a:rPr/>
              <a:t> Even with the usability-testing agent runner, my felt-sense filter is the bottleneck. I haven’t found a way to make that faster without compromising it. Acknowledging it is the move; pretending I’ve solved it would be dishonest.</a:t>
            </a:r>
          </a:p>
          <a:p>
            <a:pPr lvl="0" indent="0" marL="0">
              <a:buNone/>
            </a:pPr>
            <a:r>
              <a:rPr i="1"/>
              <a:t>If an interviewer asks “what would you change,” these are the three answers.</a:t>
            </a:r>
          </a:p>
        </p:txBody>
      </p:sp>
    </p:spTree>
  </p:cSld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17. Every phase has an existing skill behind it — the workflow is deployed, not aspirational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457200" y="1193800"/>
          <a:ext cx="8229600" cy="33909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0"/>
                <a:gridCol w="41148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Phase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Skill(s)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0 — Vision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(doc template, no skill)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 — PRD intake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(input artifact, no skill)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2 — Panels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>
                          <a:latin typeface="Courier"/>
                        </a:rPr>
                        <a:t>business-expert-panel</a:t>
                      </a:r>
                      <a:r>
                        <a:rPr/>
                        <a:t>, </a:t>
                      </a:r>
                      <a:r>
                        <a:rPr>
                          <a:latin typeface="Courier"/>
                        </a:rPr>
                        <a:t>technical-expert-panel</a:t>
                      </a:r>
                      <a:r>
                        <a:rPr/>
                        <a:t>, </a:t>
                      </a:r>
                      <a:r>
                        <a:rPr>
                          <a:latin typeface="Courier"/>
                        </a:rPr>
                        <a:t>asl-expert-panel</a:t>
                      </a:r>
                      <a:r>
                        <a:rPr/>
                        <a:t>, </a:t>
                      </a:r>
                      <a:r>
                        <a:rPr>
                          <a:latin typeface="Courier"/>
                        </a:rPr>
                        <a:t>asl-technical-panel</a:t>
                      </a:r>
                      <a:r>
                        <a:rPr/>
                        <a:t>, </a:t>
                      </a:r>
                      <a:r>
                        <a:rPr>
                          <a:latin typeface="Courier"/>
                        </a:rPr>
                        <a:t>security-expert-panel</a:t>
                      </a:r>
                      <a:r>
                        <a:rPr/>
                        <a:t>, </a:t>
                      </a:r>
                      <a:r>
                        <a:rPr>
                          <a:latin typeface="Courier"/>
                        </a:rPr>
                        <a:t>superbuilders-patrick-panel</a:t>
                      </a:r>
                      <a:r>
                        <a:rPr/>
                        <a:t>, </a:t>
                      </a:r>
                      <a:r>
                        <a:rPr>
                          <a:latin typeface="Courier"/>
                        </a:rPr>
                        <a:t>user-panel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3 — Grounding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(cite-on-demand — no dedicated skill yet, gap)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4 — Expanded spec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>
                          <a:latin typeface="Courier"/>
                        </a:rPr>
                        <a:t>grill-me</a:t>
                      </a:r>
                      <a:r>
                        <a:rPr/>
                        <a:t> (stress-test the spec), </a:t>
                      </a:r>
                      <a:r>
                        <a:rPr>
                          <a:latin typeface="Courier"/>
                        </a:rPr>
                        <a:t>blueprint</a:t>
                      </a:r>
                      <a:r>
                        <a:rPr/>
                        <a:t> (production build framing)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5 — Workflow map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(doc artifact, no skill)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6 — Design + topology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>
                          <a:latin typeface="Courier"/>
                        </a:rPr>
                        <a:t>blueprint</a:t>
                      </a:r>
                      <a:r>
                        <a:rPr/>
                        <a:t>, </a:t>
                      </a:r>
                      <a:r>
                        <a:rPr>
                          <a:latin typeface="Courier"/>
                        </a:rPr>
                        <a:t>ai-lead-deck</a:t>
                      </a:r>
                      <a:r>
                        <a:rPr/>
                        <a:t> (when the spec needs to be presented)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7 — Build + audit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>
                          <a:latin typeface="Courier"/>
                        </a:rPr>
                        <a:t>review</a:t>
                      </a:r>
                      <a:r>
                        <a:rPr/>
                        <a:t>, </a:t>
                      </a:r>
                      <a:r>
                        <a:rPr>
                          <a:latin typeface="Courier"/>
                        </a:rPr>
                        <a:t>simplify</a:t>
                      </a:r>
                      <a:r>
                        <a:rPr/>
                        <a:t>, </a:t>
                      </a:r>
                      <a:r>
                        <a:rPr>
                          <a:latin typeface="Courier"/>
                        </a:rPr>
                        <a:t>security-review</a:t>
                      </a:r>
                      <a:r>
                        <a:rPr/>
                        <a:t>, </a:t>
                      </a:r>
                      <a:r>
                        <a:rPr>
                          <a:latin typeface="Courier"/>
                        </a:rPr>
                        <a:t>eval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8 — Walkthrough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>
                          <a:latin typeface="Courier"/>
                        </a:rPr>
                        <a:t>usability-testing</a:t>
                      </a:r>
                      <a:r>
                        <a:rPr/>
                        <a:t> (agent runner)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9 — Gap loop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>
                          <a:latin typeface="Courier"/>
                        </a:rPr>
                        <a:t>loop</a:t>
                      </a:r>
                      <a:r>
                        <a:rPr/>
                        <a:t>, </a:t>
                      </a:r>
                      <a:r>
                        <a:rPr>
                          <a:latin typeface="Courier"/>
                        </a:rPr>
                        <a:t>schedule</a:t>
                      </a:r>
                      <a:r>
                        <a:rPr/>
                        <a:t>, </a:t>
                      </a:r>
                      <a:r>
                        <a:rPr>
                          <a:latin typeface="Courier"/>
                        </a:rPr>
                        <a:t>loop-recipes</a:t>
                      </a:r>
                      <a:r>
                        <a:rPr/>
                        <a:t> (automation cadence)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10 — Test suite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(derived from workflow map; runner skill is gap)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Communication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>
                          <a:latin typeface="Courier"/>
                        </a:rPr>
                        <a:t>ai-lead-deck</a:t>
                      </a:r>
                      <a:r>
                        <a:rPr/>
                        <a:t>, </a:t>
                      </a:r>
                      <a:r>
                        <a:rPr>
                          <a:latin typeface="Courier"/>
                        </a:rPr>
                        <a:t>ai-product-pitch</a:t>
                      </a:r>
                      <a:r>
                        <a:rPr/>
                        <a:t>, </a:t>
                      </a:r>
                      <a:r>
                        <a:rPr>
                          <a:latin typeface="Courier"/>
                        </a:rPr>
                        <a:t>startup-package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Output polish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>
                          <a:latin typeface="Courier"/>
                        </a:rPr>
                        <a:t>style</a:t>
                      </a:r>
                      <a:r>
                        <a:rPr/>
                        <a:t>, </a:t>
                      </a:r>
                      <a:r>
                        <a:rPr>
                          <a:latin typeface="Courier"/>
                        </a:rPr>
                        <a:t>frontend-design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i="1"/>
              <a:t>Gaps are visible: knowledge-base ingestion and test-suite generation don’t have dedicated skills yet. That’s the build plan.</a:t>
            </a:r>
          </a:p>
        </p:txBody>
      </p:sp>
    </p:spTree>
  </p:cSld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18. Sixty seconds: vision → panels → derived spec → bounded swarm → gap loop — tiered, with the loop as the product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1270000">
              <a:buNone/>
            </a:pPr>
            <a:r>
              <a:rPr sz="2000" i="1"/>
              <a:t>“I treat AI builds as a layered pipeline: a project vision sets the lens, panels of subject experts review the stakeholder PRD through it, and an expanded spec gets derived as a diff against the PRD. The build runs as a bounded agent swarm — orchestrator, supervisor, up to four implementors, a watchdog with CI-level teeth, and a tester. Agents walk the app first; I’m the final gap filter. Gaps feed back into the PRD and re-derive the spec — the loop is the product, the build is the artifact. The full pipeline is for production; for weekly gauntlets I collapse to a single panel and a single implementor. The weakness I’d flag first is that the academic-KB layer hasn’t yet earned its keep.”</a:t>
            </a:r>
          </a:p>
        </p:txBody>
      </p:sp>
    </p:spTree>
  </p:cSld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Appendix</a:t>
            </a:r>
          </a:p>
        </p:txBody>
      </p:sp>
    </p:spTree>
  </p:cSld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A. Glossary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b="1"/>
              <a:t>Vision-as-lens</a:t>
            </a:r>
            <a:r>
              <a:rPr/>
              <a:t> — positioning company pillars and project objective </a:t>
            </a:r>
            <a:r>
              <a:rPr i="1"/>
              <a:t>above</a:t>
            </a:r>
            <a:r>
              <a:rPr/>
              <a:t> the PRD so panels review through them rather than generating generic advice.</a:t>
            </a:r>
          </a:p>
          <a:p>
            <a:pPr lvl="0"/>
            <a:r>
              <a:rPr b="1"/>
              <a:t>1st-order panel</a:t>
            </a:r>
            <a:r>
              <a:rPr/>
              <a:t> — direct subject experts speaking in voice (e.g., business, technical, SME).</a:t>
            </a:r>
          </a:p>
          <a:p>
            <a:pPr lvl="0"/>
            <a:r>
              <a:rPr b="1"/>
              <a:t>2nd-order panel</a:t>
            </a:r>
            <a:r>
              <a:rPr/>
              <a:t> — meta-review: experts critiquing the 1st-order panel’s output. Used on escalation only.</a:t>
            </a:r>
          </a:p>
          <a:p>
            <a:pPr lvl="0"/>
            <a:r>
              <a:rPr b="1"/>
              <a:t>Derived spec</a:t>
            </a:r>
            <a:r>
              <a:rPr/>
              <a:t> — the expanded spec, derived from the PRD with a maintained diff. Single source of truth.</a:t>
            </a:r>
          </a:p>
          <a:p>
            <a:pPr lvl="0"/>
            <a:r>
              <a:rPr b="1"/>
              <a:t>Cite-on-demand</a:t>
            </a:r>
            <a:r>
              <a:rPr/>
              <a:t> — knowledge base referenced </a:t>
            </a:r>
            <a:r>
              <a:rPr i="1"/>
              <a:t>inside</a:t>
            </a:r>
            <a:r>
              <a:rPr/>
              <a:t> specs and panels at the moment it’s needed, not loaded up-front.</a:t>
            </a:r>
          </a:p>
          <a:p>
            <a:pPr lvl="0"/>
            <a:r>
              <a:rPr b="1"/>
              <a:t>Fan-out cap</a:t>
            </a:r>
            <a:r>
              <a:rPr/>
              <a:t> — bounded parallelism for implementor agents (≤4) to keep supervisor arbitration and watchdog review tractable.</a:t>
            </a:r>
          </a:p>
          <a:p>
            <a:pPr lvl="0"/>
            <a:r>
              <a:rPr b="1"/>
              <a:t>Supervisor arbitration</a:t>
            </a:r>
            <a:r>
              <a:rPr/>
              <a:t> — the supervisor agent’s job of resolving conflicts between parallel implementors against the spec-of-record.</a:t>
            </a:r>
          </a:p>
          <a:p>
            <a:pPr lvl="0"/>
            <a:r>
              <a:rPr b="1"/>
              <a:t>Watchdog with teeth</a:t>
            </a:r>
            <a:r>
              <a:rPr/>
              <a:t> — the spec-audit agent runs as a CI / pre-merge hook that blocks merge on violation, not an advisory comment.</a:t>
            </a:r>
          </a:p>
          <a:p>
            <a:pPr lvl="0"/>
            <a:r>
              <a:rPr b="1"/>
              <a:t>Gap loop</a:t>
            </a:r>
            <a:r>
              <a:rPr/>
              <a:t> — the feedback loop where walkthrough-discovered gaps feed back into PRD and spec, triggering re-derivation.</a:t>
            </a:r>
          </a:p>
          <a:p>
            <a:pPr lvl="0"/>
            <a:r>
              <a:rPr b="1"/>
              <a:t>Usability-testing runner</a:t>
            </a:r>
            <a:r>
              <a:rPr/>
              <a:t> — agent-driven Playwright + Claude harness that exercises user-workflow scenarios before the human walkthrough.</a:t>
            </a:r>
          </a:p>
        </p:txBody>
      </p:sp>
    </p:spTree>
  </p:cSld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B. Out of scope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This deck is not a sales pitch for a specific build — it’s the methodology. Specific builds (e.g., Synthesis-Tutor clone, AgentForge, ASL Learning) use this methodology but their own decks.</a:t>
            </a:r>
          </a:p>
          <a:p>
            <a:pPr lvl="0"/>
            <a:r>
              <a:rPr/>
              <a:t>This is not a coding-style or framework deck. Stack choices (Next.js, Python, MLX, Ollama) are project-level decisions, not workflow-level.</a:t>
            </a:r>
          </a:p>
          <a:p>
            <a:pPr lvl="0"/>
            <a:r>
              <a:rPr/>
              <a:t>This deck does not benchmark this workflow against named alternatives (Anthropic’s prompt engineering guide, OpenAI’s agent design patterns, etc.). That comparison is a separate exercise.</a:t>
            </a:r>
          </a:p>
        </p:txBody>
      </p:sp>
    </p:spTree>
  </p:cSld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C. Frameworks used in this deck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b="1"/>
              <a:t>SCR / Pyramid Principle</a:t>
            </a:r>
            <a:r>
              <a:rPr/>
              <a:t> — overall narrative arc (situation: AI builds need structure; complication: vibe-coding doesn’t scale; resolution: this layered workflow)</a:t>
            </a:r>
          </a:p>
          <a:p>
            <a:pPr lvl="0"/>
            <a:r>
              <a:rPr b="1"/>
              <a:t>MECE</a:t>
            </a:r>
            <a:r>
              <a:rPr/>
              <a:t> — 18-slide structure is decomposed into Vision → Intake → Review → Spec → Build → Audit → Walkthrough → Loop → Test → Tiered (non-overlapping phases)</a:t>
            </a:r>
          </a:p>
          <a:p>
            <a:pPr lvl="0"/>
            <a:r>
              <a:rPr b="1"/>
              <a:t>Layered architecture view</a:t>
            </a:r>
            <a:r>
              <a:rPr/>
              <a:t> — anchor diagram and agent topology</a:t>
            </a:r>
          </a:p>
          <a:p>
            <a:pPr lvl="0"/>
            <a:r>
              <a:rPr b="1"/>
              <a:t>State machine</a:t>
            </a:r>
            <a:r>
              <a:rPr/>
              <a:t> — user workflow map</a:t>
            </a:r>
          </a:p>
          <a:p>
            <a:pPr lvl="0"/>
            <a:r>
              <a:rPr b="1"/>
              <a:t>Feedback loop diagram</a:t>
            </a:r>
            <a:r>
              <a:rPr/>
              <a:t> — gap loop</a:t>
            </a:r>
          </a:p>
          <a:p>
            <a:pPr lvl="0"/>
            <a:r>
              <a:rPr b="1"/>
              <a:t>Comparison table</a:t>
            </a:r>
            <a:r>
              <a:rPr/>
              <a:t> — tiered workflow</a:t>
            </a:r>
          </a:p>
          <a:p>
            <a:pPr lvl="0"/>
            <a:r>
              <a:rPr b="1"/>
              <a:t>Capability map (implicit)</a:t>
            </a:r>
            <a:r>
              <a:rPr/>
              <a:t> — tooling map slide</a:t>
            </a:r>
          </a:p>
        </p:txBody>
      </p:sp>
    </p:spTree>
  </p:cSld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D. Open asks (what to refine before delivering this in an actual interview)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-342900" marL="342900">
              <a:buAutoNum type="arabicPeriod"/>
            </a:pPr>
            <a:r>
              <a:rPr/>
              <a:t>Tighten the thesis sentence to under 25 words — current draft is 28</a:t>
            </a:r>
          </a:p>
          <a:p>
            <a:pPr lvl="0" indent="-342900" marL="342900">
              <a:buAutoNum type="arabicPeriod"/>
            </a:pPr>
            <a:r>
              <a:rPr/>
              <a:t>Decide whether to draw the </a:t>
            </a:r>
            <a:r>
              <a:rPr i="1"/>
              <a:t>project pillar examples</a:t>
            </a:r>
            <a:r>
              <a:rPr/>
              <a:t> explicitly on slide 4 (SuperBuilders 4 pillars by name?) or keep them generic</a:t>
            </a:r>
          </a:p>
          <a:p>
            <a:pPr lvl="0" indent="-342900" marL="342900">
              <a:buAutoNum type="arabicPeriod"/>
            </a:pPr>
            <a:r>
              <a:rPr/>
              <a:t>Test the 60-second version out loud with a stopwatch — current draft may run long</a:t>
            </a:r>
          </a:p>
          <a:p>
            <a:pPr lvl="0" indent="-342900" marL="342900">
              <a:buAutoNum type="arabicPeriod"/>
            </a:pPr>
            <a:r>
              <a:rPr/>
              <a:t>Decide which of the three “what I’d change” weaknesses to lead with if the interviewer asks for only one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keywords/>
  <dcterms:created xsi:type="dcterms:W3CDTF">2026-05-20T18:48:39Z</dcterms:created>
  <dcterms:modified xsi:type="dcterms:W3CDTF">2026-05-20T18:48:39Z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